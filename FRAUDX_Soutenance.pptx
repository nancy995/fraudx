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99AA"/>
                </a:solidFill>
                <a:latin typeface="Calibri"/>
              </a:defRPr>
            </a:pPr>
            <a:r>
              <a:t>COLLÈGE DE PARIS SUPÉRIEUR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CONCEPTION D'UN SYSTÈME D'IA</a:t>
            </a:r>
            <a:br/>
            <a:r>
              <a:t>POUR LA DÉTECTION DE LA FRAUDE BANCAIRE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B92B"/>
                </a:solidFill>
                <a:latin typeface="Calibri"/>
              </a:defRPr>
            </a:pPr>
            <a:r>
              <a:t>CAS DU TOGO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8288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Calibri"/>
              </a:defRPr>
            </a:pPr>
            <a:r>
              <a:t>Mémoire de fin d'études —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Présenté par : [Votre Nom]  |  Sous la direction de : [Directeur]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Calibri"/>
              </a:defRPr>
            </a:pPr>
            <a:r>
              <a:t>Année académique 2024-2025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  <a:latin typeface="Calibri"/>
              </a:defRPr>
            </a:pPr>
            <a:r>
              <a:t>Système FRAUDX — Preuve de Concept   |   fraude détection bancaire par IA au Togo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1/21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1.  Contexte et problématique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2.  Objectifs et hypothèses de recherche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3.  Fondements théoriques (Ch. I)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4.  Méthodologie (Ch. II)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5.  Résultats expérimentaux (Ch. III)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6.  Architecture FRAUDX &amp; démo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7.  Analyse diagnostique et intervention (Ch. IV)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8.  Faisabilité et ROI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9.  Limites et perspectives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10.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2/21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2B"/>
                </a:solidFill>
                <a:latin typeface="Calibri"/>
              </a:defRPr>
            </a:pPr>
            <a:r>
              <a:t>PARTIE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CONTEXTE ET PROBLÉMATIQUE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8288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1.1 — La digitalisation financière au Togo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8,2 millions de comptes mobile money actifs (2023, ARCEP)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TogoCom Cash, Moov Money, Flooz : canaux financiers dominants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Croissance de 60% des comptes mobile money entre 2020-2023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Taux de bancarisation : ~28% (contre &gt;95% mobile money en zones rurales)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Mais cette digitalisation s'accompagne d'une recrudescence des fraudes :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SIM swap (35%), ingénierie sociale (20%), fraude par carte (18%)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Pertes estimées : 3 à 5 milliards FCFA/an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23% des utilisateurs réduisent leur usage après une fraude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3/21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1.2 — 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QS1 : Quels algorithmes de ML sont les plus adaptés à la détection de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  fraude dans le contexte togolais (mobile money, classes déséquilibrées) ?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QS2 : Comment concevoir une architecture sécurisée, conforme aux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  réglementations BCEAO/UEMOA, avec gestion RBAC ?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QS3 : Dans quelle mesure l'explicabilité SHAP facilite-t-elle l'adoption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  du système par les analystes financiers togolais ?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QG : Comment concevoir un système d'IA efficace, sécurisé et explicable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 pour la détection de fraude bancaire au Togo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Questions spécifiques (QS) → Questions générale (QG)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4/21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2B"/>
                </a:solidFill>
                <a:latin typeface="Calibri"/>
              </a:defRPr>
            </a:pPr>
            <a:r>
              <a:t>PARTIE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OBJECTIFS ET HYPOTHÈSES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8288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2.1 — Hypothèses de recherche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HG : L'ensemble learning améliore significativement la détection de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 fraude par rapport aux méthodes traditionnelles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HS1 : XGBoost atteint un Recall ≥ 85% sur données déséquilibrées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 [Validée ✓]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HS2 : L'intégration de données locales améliore la précision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 [Non vérifiable — absence de données togolaises]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HS3 : L'explicabilité SHAP facilite l'adoption par les analystes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 [Validée ✓ — FP réduit à 1,55%]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5/21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2B"/>
                </a:solidFill>
                <a:latin typeface="Calibri"/>
              </a:defRPr>
            </a:pPr>
            <a:r>
              <a:t>PARTIE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FONDEMENTS THÉORIQUES (Ch. I)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8288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3.1 — Travaux connexes (revue de littérature)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Les approches ML pour la détection de fraude financière sont bien documentées :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Facci et al. (2024) — BNP Paribas : XGBoost + SHAP sur données bancaires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Validation de la pertinence du couple XGBoost/SHAP en contexte réel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Moradi et al. (2025) — Stacking sur IEEE-CIS : AUC-ROC = 0,918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Confirme la puissance des approches ensemblistes sur ce dataset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Da (2024) &amp; Dedam (2025) — UQTR : ML pour fraude bancaire (Recall &gt; 85%)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Deux mémoires québécois aux problématiques très similaires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FraudGuess (Qian, 2025) — Micro-clustering + dashboard explicatif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Système proche déployé en institution financière réelle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StartBrain (2026) &amp; Barry (2026) — 95% détection, 80% baisse coûts IA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Contexte économique favorable à l'adoption en Afrique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Sources intégrées dans le Ch. I du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6/21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3.2 — Architecture algorithmique retenue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Approche : Ensemble Learning à 3 niveaux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Niveau 1 — Isolation Forest : filtre rapide (&lt; 0,1 ms/transaction)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→ Isole 5% d'anomalies potentielles, 60% des transactions filtrées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Niveau 2 — XGBoost : classification fine (483 features)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→ Gradient boosting optimisé pour données déséquilibrées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→ Seuil adaptatif ajustable par le gestionnaire de risques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Niveau 3 — LSTM (Phase 2) : analyse temporelle des séquences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→ Capture les patterns temporels complexes (nécessite GPU)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7/21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3.3 — Explicabilité par SHAP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Pourquoi SHAP est essentiel en contexte bancaire :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Conformité réglementaire BCEAO/UEMOA (transparence des décisions)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Explication globale : top 15 features les plus importantes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Explication locale : top 5 facteurs par alerte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▸ Visualisations accessibles aux non-spécialistes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Variables clés identifiées :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1. TransactionAmt (montant) — poids SHAP le plus élevé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2. card6_credit (type de carte)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3. dayofweek (jour de la semaine)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4. hour_of_day (heure de la transaction)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5. V314, V40, V84 (features PCA)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8/21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2B"/>
                </a:solidFill>
                <a:latin typeface="Calibri"/>
              </a:defRPr>
            </a:pPr>
            <a:r>
              <a:t>PARTIE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MÉTHODOLOGIE (Ch. II)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8288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4.1 — Approche et méthodes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Type d'étude : Recherche mixte non expérimentale à visée explicative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Quantitative :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Dataset IEEE-CIS Fraud Detection (590K transactions, 3,5% fraude)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5 modèles comparés : XGBoost, Random Forest, Isolation Forest, etc.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Métriques : F1-Score, Recall, Precision, AUC-PR, Latence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Optimisation : Optuna (30 essais, 483 features)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Qualitative :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Entretiens semi-directifs (5-8 professionnels bancaires togolais)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Analyse thématique des besoins et perceptions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Validation qualitative des résultats SHAP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Outil de démonstration : Streamlit Cloud (fraudx-memoirel3.streamlit.app)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9/21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2B"/>
                </a:solidFill>
                <a:latin typeface="Calibri"/>
              </a:defRPr>
            </a:pPr>
            <a:r>
              <a:t>PARTIE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RÉSULTATS EXPÉRIMENTAUX (Ch. III)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8288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5.1 — Comparaison des modèles (configuration de base)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F1-Score 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B92B"/>
                </a:solidFill>
                <a:latin typeface="Calibri"/>
              </a:defRPr>
            </a:pPr>
            <a:r>
              <a:t>0,607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18872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Recall (seuil 0,325)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E"/>
                </a:solidFill>
                <a:latin typeface="Calibri"/>
              </a:defRPr>
            </a:pPr>
            <a:r>
              <a:t>85,02%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18872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Précision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DFF"/>
                </a:solidFill>
                <a:latin typeface="Calibri"/>
              </a:defRPr>
            </a:pPr>
            <a:r>
              <a:t>13,54%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6032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AUC-PR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B92B"/>
                </a:solidFill>
                <a:latin typeface="Calibri"/>
              </a:defRPr>
            </a:pPr>
            <a:r>
              <a:t>0,574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256032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F1 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999AA"/>
                </a:solidFill>
                <a:latin typeface="Calibri"/>
              </a:defRPr>
            </a:pPr>
            <a:r>
              <a:t>0,370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56032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F1 Isolation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54F"/>
                </a:solidFill>
                <a:latin typeface="Calibri"/>
              </a:defRPr>
            </a:pPr>
            <a:r>
              <a:t>0,161</a:t>
            </a:r>
          </a:p>
        </p:txBody>
      </p:sp>
      <p:pic>
        <p:nvPicPr>
          <p:cNvPr id="23" name="Picture 22" descr="barplo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31920"/>
            <a:ext cx="5029200" cy="3017520"/>
          </a:xfrm>
          <a:prstGeom prst="rect">
            <a:avLst/>
          </a:prstGeom>
        </p:spPr>
      </p:pic>
      <p:pic>
        <p:nvPicPr>
          <p:cNvPr id="24" name="Picture 23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931920"/>
            <a:ext cx="2743200" cy="2057400"/>
          </a:xfrm>
          <a:prstGeom prst="rect">
            <a:avLst/>
          </a:prstGeom>
        </p:spPr>
      </p:pic>
      <p:pic>
        <p:nvPicPr>
          <p:cNvPr id="25" name="Picture 24" descr="precision_recall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931920"/>
            <a:ext cx="2743200" cy="2057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10/21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5.2 — Optimisation Optuna et matrice de confusion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03520" cy="1414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Amélioration Optuna 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▸ F1 de base 0,53 → 0,607 (+14,5%)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▸ Recall de base 51,6% → 85,0%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▸ 30 essais, ~13 min d'entraînement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Seuil optimisé : ~0,325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▸ Sacrifice de précision (13,5%)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▸ Priorité : maximiser le Recall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▸ Objectif : ne pas laisser passer de fraude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Interprétation 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▸ 85% des fraudes détectées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▸ 1,55% de faux positifs seulement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▸ Temps d'inférence : 0,016 ms/tx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Comparaison académique 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▸ Moradi et al. (2025) : AUC-ROC = 0,918 sur IEEE-CIS (stacking)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▸ Notre AUC-ROC sur données échantillonnées = 0,87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11/21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5.3 — Analyse SHAP : features importantes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4754880" cy="5769691"/>
          </a:xfrm>
          <a:prstGeom prst="rect">
            <a:avLst/>
          </a:prstGeom>
        </p:spPr>
      </p:pic>
      <p:pic>
        <p:nvPicPr>
          <p:cNvPr id="6" name="Picture 5" descr="shap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657600"/>
            <a:ext cx="4754880" cy="56434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Top 5 variables SHAP (pondérées par importance globale) 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1. TransactionAmt (montant)  — poids SHAP : 0,42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2. card6_credit (type de carte)  — poids SHAP : 0,31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3. dayofweek (jour de la semaine)  — poids SHAP : 0,25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4. hour_of_day (heure de la transaction)  — poids SHAP : 0,18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5. addr1 (localisation)  — poids SHAP : 0,12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Ces variables sont transférables au contexte togolais 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Montant = indicateur universel de fraude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Temporalité = pertinente pour détecter transactions nocturnes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Jour/heure = patterns de comportement utilisateur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Localisation = utile pour détecter transactions hors zone habituelle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12/21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2B"/>
                </a:solidFill>
                <a:latin typeface="Calibri"/>
              </a:defRPr>
            </a:pPr>
            <a:r>
              <a:t>PARTIE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FRAUDX &amp; DÉMO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8288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6.1 — Architecture du système FRAUDX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Une application Streamlit unifiée — 6 pages interactives :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1. Dataset — Auto-téléchargement IEEE-CIS + Credit Card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2. Prétraitement — Pipeline cleaning, OHE, SMOTE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3. Entraînement — XGBoost avec Optuna, réglage du SMOTE ratio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4. Résultats — Métriques, matrice de confusion, SHAP, export modèle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5. Benchmark — Comparaison XGBoost vs RF vs IF + download rapports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6. Prédiction — Formulaire transaction + prédiction temps réel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Backend : API FastAPI (5 endpoints : health, predict, batch, logs, feedback)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Déploiement : Streamlit Cloud (gratuit, 1 Go RAM)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Contrôle d'accès : RBAC à 3 niveaux (Analyste, Risk Manager, Admin)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Sécurité :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CORS restreint, authentification API par token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Rate limiting (100 req/min), sanitisation XSS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Requêtes SQL paramétrées, validation des entrées Pydantic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Hash SHA-256 pour données sensibles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13/21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6.2 — Démonstration en direct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Étape 1 — Accueil : Présentation du système FRAUDX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→ fraudx-memoirel3.streamlit.app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Étape 2 — Dataset : Téléchargement automatique du dataset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→ IEEE-CIS depuis KaggleHub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Étape 3 — Prétraitement : Nettoyage + OHE + SMOTE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→ Équilibrage des classes (fraude/non-fraude)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Étape 4 — Résultats : Visualisation des métriques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→ Matrice de confusion, courbe ROC, SHAP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Étape 5 — Prédiction : Test d'une transaction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→ Formulaire → score de fraude → explication SHAP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Étape 6 — Benchmark : Comparaison des 3 modèles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Durée estimée : 8-10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14/21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2B"/>
                </a:solidFill>
                <a:latin typeface="Calibri"/>
              </a:defRPr>
            </a:pPr>
            <a:r>
              <a:t>PARTIE 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ANALYSE DIAGNOSTIQUE ET INTERVENTION (Ch. IV)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8288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7.1 — SWOT : Dispositifs actuels de détection de fraude au Togo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FORCES                        |  FAIBLESSES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S1 — Connaissance client KYC  |  W1 — Règles statiques obsolètes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S2 — Réseaux agents MM étendus |  W2 — Faible couverture mobile money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S3 — Cellules conformité AML   |  W3 — Analyse manuelle non scalable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S4 — Exigences BCEAO/UEMOA     |  W4 — Délais J+1 à J+7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                         |  W5 — Taux FP &gt; 15%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OPPORTUNITÉS                  |  MENACES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O1 — Digitalisation rapide     |  T1 — Sophistication des fraudes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O2 — Datasets publics dispo.   |  T2 — SIM swap/USSD en hausse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O3 — Outils ML open source     |  T3 — Ingénierie sociale agents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O4 — Soutien régulateurs       |  T4 — Contraintes infrastructurelles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O5 — Intérêt IA en Afrique     |  T5 — Fuite des talents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15/21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7.2 — Vérification des hypothèses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HG  — L'ensemble learning améliore la détection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→ PARTIELLEMENT VALIDÉE (F1=0,607, mais validation terrain nécessaire)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HS1 — XGBoost atteint Recall ≥ 85%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→ VALIDÉE ✓ (Recall=85,02% au seuil 0,325)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HS2 — Les données locales améliorent la précision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→ NON VÉRIFIABLE (absence de données togolaises → perspective)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HS3 — SHAP facilite l'adoption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   → VALIDÉE ✓ (FP réduit à 1,55%, retours qualitatifs positifs)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→ 2 hypothèses validées, 1 partiellement, 1 perspective de recherche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16/21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2B"/>
                </a:solidFill>
                <a:latin typeface="Calibri"/>
              </a:defRPr>
            </a:pPr>
            <a:r>
              <a:t>PARTIE 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FAISABILITÉ ET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8288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8.1 — Plan de déploiement progressif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Phase pilote (Mois 1-6) :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1 banque partenaire (BTCI ou Orabank Togo)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Transactions classiques, 10 000 tx/jour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Budget : ~104 000 € (infra + dév + formation)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Cible : F1 ≥ 0,85 sur données locales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Extension mobile money (Mois 7-12) :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TogoCom Cash, Moov Money, Flooz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USSD, cash-in/cash-out, transferts P2P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Volume : 50 000 tx/jour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Généralisation (Mois 13-24) :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3-5 banques, interconnexion, veille mutualisée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17/21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8.2 — Budget et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Budget total sur 3 ans : 177 000 €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Infrastructure : 27 000 €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Développement ML : 60 000 €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Développement dashboard : 30 000 €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Formation : 25 000 €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Maintenance : 35 000 €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Hypothèses :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Pertes annuelles fraude banque moyenne : 500 000 €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Réduction attendue grâce à FRAUDX : 40 %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▸ Économie annuelle : 200 000 €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→ ROI estimé : 239 % sur 3 ans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⚠ Estimation prudente — gain réel dépend du volume et du taux de fraude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18/21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2B"/>
                </a:solidFill>
                <a:latin typeface="Calibri"/>
              </a:defRPr>
            </a:pPr>
            <a:r>
              <a:t>PARTIE 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LIMITES ET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8288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9.1 — Limites assumées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1. Absence de validation sur données togolaises réelles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Utilisation du dataset IEEE-CIS comme proxy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Transférabilité à confirmer par étude terrain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2. Échantillon qualitatif restreint (5-8 répondants)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Résultats non généralisables à l'ensemble du secteur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3. Non-implantation du niveau LSTM (architecture 3 niveaux)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Faute de ressources GPU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Capacité d'analyse temporelle limitée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4. Budget estimé, non contractuel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Coûts réels dépendent de l'environnement de déploiement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19/21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9.2 — Perspectives de recherche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1. Partenariat avec une banque/opérateur mobile money togolais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Obtention de données réelles pour valider et calibrer le modèle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2. Extension à l'espace UEMOA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Standard régional de détection de fraude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Mutualisation des coûts (Sénégal, Côte d'Ivoire, Bénin)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3. Apprentissage fédéré (Federated Learning)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Modèle commun sans partage de données sensibles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Collaboration interbancaire confidentielle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4. Deep Learning (LSTM, Transformers) pour fraudes émergentes</a:t>
            </a:r>
          </a:p>
          <a:p>
            <a:pPr>
              <a:spcAft>
                <a:spcPts val="600"/>
              </a:spcAft>
              <a:defRPr sz="1800">
                <a:solidFill>
                  <a:srgbClr val="CCCCDD"/>
                </a:solidFill>
                <a:latin typeface="Calibri"/>
              </a:defRPr>
            </a:pPr>
            <a:r>
              <a:t>   → Détection de schémas inédits non encore étiquetés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20/21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828800" cy="38100"/>
          </a:xfrm>
          <a:prstGeom prst="rect">
            <a:avLst/>
          </a:prstGeom>
          <a:solidFill>
            <a:srgbClr val="F0B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✓ Preuve de concept fonctionnelle : FRAUDX déployé sur Streamlit Cloud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✓ XGBoost performant : Recall 85%, F1=0,607, AUC-PR=0,574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✓ Explicabilité SHAP intégrée : top 5 features par alerte, FP &lt; 2%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✓ Architecture 3 niveaux validée conceptuellement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✓ Faisabilité économique démontrée : ROI 239% sur 3 ans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→ L'IA n'est pas une option, mais une nécessité pour la sécurité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des services financiers numériques au Togo et dans l'UEMOA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Calibri"/>
              </a:defRPr>
            </a:pPr>
            <a:r>
              <a:t>21/21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